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촬영 시간별 보정 중심 이동량 (μm)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측정값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2분</c:v>
                </c:pt>
                <c:pt idx="1">
                  <c:v>5분</c:v>
                </c:pt>
                <c:pt idx="2">
                  <c:v>10분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1.2</c:v>
                </c:pt>
                <c:pt idx="1">
                  <c:v>2.1</c:v>
                </c:pt>
                <c:pt idx="2">
                  <c:v>3.0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영역별 해상력 편차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측정값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중심</c:v>
                </c:pt>
                <c:pt idx="1">
                  <c:v>중간</c:v>
                </c:pt>
                <c:pt idx="2">
                  <c:v>주변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2.0</c:v>
                </c:pt>
                <c:pt idx="1">
                  <c:v>3.5</c:v>
                </c:pt>
                <c:pt idx="2">
                  <c:v>5.1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조건별 인식 회복 시간 (초)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측정값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김서림</c:v>
                </c:pt>
                <c:pt idx="1">
                  <c:v>결빙</c:v>
                </c:pt>
                <c:pt idx="2">
                  <c:v>빗방울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</c:v>
                </c:pt>
                <c:pt idx="1">
                  <c:v>21</c:v>
                </c:pt>
                <c:pt idx="2">
                  <c:v>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발표자 노트: 온도 추정 계수는 모듈 종류별로 따로 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001" name="Synthetic Notice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</a:rPr>
              <a:t>테스트용 합성 자료 - 실제 사업 내용과 무관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2103120"/>
            <a:ext cx="11091672" cy="1371600"/>
          </a:xfrm>
        </p:spPr>
        <p:txBody>
          <a:bodyPr/>
          <a:lstStyle/>
          <a:p>
            <a:r>
              <a:rPr sz="3600" b="1">
                <a:solidFill>
                  <a:srgbClr val="1F2937"/>
                </a:solidFill>
              </a:rPr>
              <a:t>광학솔루션사업부 3분기 기술개발 현황 보고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3657600"/>
            <a:ext cx="11091672" cy="914400"/>
          </a:xfrm>
        </p:spPr>
        <p:txBody>
          <a:bodyPr/>
          <a:lstStyle/>
          <a:p>
            <a:r>
              <a:rPr sz="1800" b="0"/>
              <a:t>테스트용 합성 자료 - 실제 사업 내용과 무관 (2026년 10월)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목차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91672" cy="4846320"/>
          </a:xfrm>
        </p:spPr>
        <p:txBody>
          <a:bodyPr wrap="square"/>
          <a:lstStyle/>
          <a:p>
            <a:pPr/>
            <a:r>
              <a:rPr sz="1800" b="0">
                <a:solidFill>
                  <a:srgbClr val="1F2937"/>
                </a:solidFill>
              </a:rPr>
              <a:t>1. 요약 및 주요 지표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2. 시장 및 고객 동향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3. 과제별 기술 진행 현황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4. 품질 및 공정 이슈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5. 지식재산 및 리스크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6. 일정, 예산과 향후 계획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요약 및 주요 지표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91672" cy="4846320"/>
          </a:xfrm>
        </p:spPr>
        <p:txBody>
          <a:bodyPr wrap="square"/>
          <a:lstStyle/>
          <a:p>
            <a:pPr/>
            <a:r>
              <a:rPr sz="1800" b="0">
                <a:solidFill>
                  <a:srgbClr val="1F2937"/>
                </a:solidFill>
              </a:rPr>
              <a:t>3분기 핵심 과제 7건 중 5건이 계획대로 진행 중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고배율 줌 모듈 시제품 2차 평가 완료, 3차 평가는 11월 예정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차량용 카메라 모듈 신뢰성 시험 1,000시간 통과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신규 검사 설비 2대 도입 품의 진행 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시장 및 고객 동향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91672" cy="4846320"/>
          </a:xfrm>
        </p:spPr>
        <p:txBody>
          <a:bodyPr wrap="square"/>
          <a:lstStyle/>
          <a:p>
            <a:pPr/>
            <a:r>
              <a:rPr sz="1800" b="0">
                <a:solidFill>
                  <a:srgbClr val="1F2937"/>
                </a:solidFill>
              </a:rPr>
              <a:t>스마트폰 카메라는 고화소와 고배율 중심으로 사양 경쟁이 이어지는 추세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차량용 카메라는 자율주행 단계 상향에 따라 탑재 수량이 증가할 전망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고객사는 모듈 두께 축소와 납기 단축을 동시에 요구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3D 센싱은 확장현실 기기와 로봇 분야로 적용처 확대가 기대됨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과제 현황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9167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1168"/>
                <a:gridCol w="2662001"/>
                <a:gridCol w="1774667"/>
                <a:gridCol w="2883834"/>
              </a:tblGrid>
              <a:tr h="548640">
                <a:tc>
                  <a:txBody>
                    <a:bodyPr/>
                    <a:lstStyle/>
                    <a:p>
                      <a:r>
                        <a:rPr sz="1400" b="1"/>
                        <a:t>과제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단계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진행률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비고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손떨림 보정 온도 보상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시제품 평가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정상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자동 초점 정착 시간 단축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알고리즘 검증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정상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능동 정렬 공정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설비 적용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정상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폴디드 줌 열 보상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설계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일정 주의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거리 측정 위상 복원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시뮬레이션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55%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정상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차량용 렌즈 히터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신뢰성 시험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정상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이물 검사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현장 시험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정상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추진 일정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91672" cy="4846320"/>
          </a:xfrm>
        </p:spPr>
        <p:txBody>
          <a:bodyPr wrap="square"/>
          <a:lstStyle/>
          <a:p>
            <a:pPr/>
            <a:r>
              <a:rPr sz="1800" b="0">
                <a:solidFill>
                  <a:srgbClr val="1F2937"/>
                </a:solidFill>
              </a:rPr>
              <a:t>10월: 시제품 3차 제작 및 내부 평가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11월: 고객 샘플 제출과 공정 검증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12월: 양산 이관 심의와 연간 결과 보고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주간 진도 회의는 매주 수요일 오전에 진행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손떨림 보정 액추에이터: 온도 드리프트 보상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91672" cy="4846320"/>
          </a:xfrm>
        </p:spPr>
        <p:txBody>
          <a:bodyPr wrap="square"/>
          <a:lstStyle/>
          <a:p>
            <a:pPr/>
            <a:r>
              <a:rPr sz="1800" b="0">
                <a:solidFill>
                  <a:srgbClr val="1F2937"/>
                </a:solidFill>
              </a:rPr>
              <a:t>배경: 연속 촬영 시 코일 발열로 홀 센서 출력이 변하여 보정 중심이 이동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제안: 홀 센서 출력을 코일 온도 추정값으로 보상하는 2단계 보정</a:t>
            </a:r>
          </a:p>
          <a:p>
            <a:pPr lvl="1"/>
            <a:r>
              <a:rPr sz="1600" b="0">
                <a:solidFill>
                  <a:srgbClr val="1F2937"/>
                </a:solidFill>
              </a:rPr>
              <a:t>코일 온도는 구동 전류의 제곱 누적값과 방열 시정수로 추정한다</a:t>
            </a:r>
          </a:p>
          <a:p>
            <a:pPr lvl="1"/>
            <a:r>
              <a:rPr sz="1600" b="0">
                <a:solidFill>
                  <a:srgbClr val="1F2937"/>
                </a:solidFill>
              </a:rPr>
              <a:t>추정 온도 구간별 오프셋 테이블을 선형 보간하여 홀 센서 목표값에서 차감한다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촬영 대기 중 2초마다 기준 위치로 복귀시켜 오프셋 테이블을 자동으로 갱신한다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적용 대상: 차세대 고배율 모듈 시제품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보상 제어 블록 구성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548640" y="1737360"/>
            <a:ext cx="11091670" cy="914400"/>
            <a:chOff x="548640" y="1737360"/>
            <a:chExt cx="11091670" cy="914400"/>
          </a:xfrm>
        </p:grpSpPr>
        <p:sp>
          <p:nvSpPr>
            <p:cNvPr id="4" name="Rounded Rectangle 3"/>
            <p:cNvSpPr/>
            <p:nvPr/>
          </p:nvSpPr>
          <p:spPr>
            <a:xfrm>
              <a:off x="548640" y="1737360"/>
              <a:ext cx="1889150" cy="914400"/>
            </a:xfrm>
            <a:prstGeom prst="roundRect">
              <a:avLst/>
            </a:prstGeom>
            <a:solidFill>
              <a:srgbClr val="E8EEF8"/>
            </a:solidFill>
            <a:ln>
              <a:solidFill>
                <a:srgbClr val="1D5BB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500" b="0">
                  <a:solidFill>
                    <a:srgbClr val="1F2937"/>
                  </a:solidFill>
                </a:rPr>
                <a:t>자이로 센서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849270" y="1737360"/>
              <a:ext cx="1889150" cy="914400"/>
            </a:xfrm>
            <a:prstGeom prst="roundRect">
              <a:avLst/>
            </a:prstGeom>
            <a:solidFill>
              <a:srgbClr val="E8EEF8"/>
            </a:solidFill>
            <a:ln>
              <a:solidFill>
                <a:srgbClr val="1D5BB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500" b="0">
                  <a:solidFill>
                    <a:srgbClr val="1F2937"/>
                  </a:solidFill>
                </a:rPr>
                <a:t>떨림 추정기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149900" y="1737360"/>
              <a:ext cx="1889150" cy="914400"/>
            </a:xfrm>
            <a:prstGeom prst="roundRect">
              <a:avLst/>
            </a:prstGeom>
            <a:solidFill>
              <a:srgbClr val="E8EEF8"/>
            </a:solidFill>
            <a:ln>
              <a:solidFill>
                <a:srgbClr val="1D5BB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500" b="0">
                  <a:solidFill>
                    <a:srgbClr val="1F2937"/>
                  </a:solidFill>
                </a:rPr>
                <a:t>온도 추정기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7450530" y="1737360"/>
              <a:ext cx="1889150" cy="914400"/>
            </a:xfrm>
            <a:prstGeom prst="roundRect">
              <a:avLst/>
            </a:prstGeom>
            <a:solidFill>
              <a:srgbClr val="E8EEF8"/>
            </a:solidFill>
            <a:ln>
              <a:solidFill>
                <a:srgbClr val="1D5BB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500" b="0">
                  <a:solidFill>
                    <a:srgbClr val="1F2937"/>
                  </a:solidFill>
                </a:rPr>
                <a:t>홀 센서 보정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9751160" y="1737360"/>
              <a:ext cx="1889150" cy="914400"/>
            </a:xfrm>
            <a:prstGeom prst="roundRect">
              <a:avLst/>
            </a:prstGeom>
            <a:solidFill>
              <a:srgbClr val="E8EEF8"/>
            </a:solidFill>
            <a:ln>
              <a:solidFill>
                <a:srgbClr val="1D5BB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500" b="0">
                  <a:solidFill>
                    <a:srgbClr val="1F2937"/>
                  </a:solidFill>
                </a:rPr>
                <a:t>코일 구동기</a:t>
              </a:r>
            </a:p>
          </p:txBody>
        </p:sp>
      </p:grpSp>
      <p:sp>
        <p:nvSpPr>
          <p:cNvPr id="5" name="Right Arrow 4"/>
          <p:cNvSpPr/>
          <p:nvPr/>
        </p:nvSpPr>
        <p:spPr>
          <a:xfrm>
            <a:off x="2501798" y="2057400"/>
            <a:ext cx="283464" cy="274320"/>
          </a:xfrm>
          <a:prstGeom prst="rightArrow">
            <a:avLst/>
          </a:prstGeom>
          <a:solidFill>
            <a:srgbClr val="1D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Arrow 6"/>
          <p:cNvSpPr/>
          <p:nvPr/>
        </p:nvSpPr>
        <p:spPr>
          <a:xfrm>
            <a:off x="4802428" y="2057400"/>
            <a:ext cx="283464" cy="274320"/>
          </a:xfrm>
          <a:prstGeom prst="rightArrow">
            <a:avLst/>
          </a:prstGeom>
          <a:solidFill>
            <a:srgbClr val="1D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7103058" y="2057400"/>
            <a:ext cx="283464" cy="274320"/>
          </a:xfrm>
          <a:prstGeom prst="rightArrow">
            <a:avLst/>
          </a:prstGeom>
          <a:solidFill>
            <a:srgbClr val="1D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9403688" y="2057400"/>
            <a:ext cx="283464" cy="274320"/>
          </a:xfrm>
          <a:prstGeom prst="rightArrow">
            <a:avLst/>
          </a:prstGeom>
          <a:solidFill>
            <a:srgbClr val="1D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00400"/>
            <a:ext cx="1109167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F2937"/>
                </a:solidFill>
              </a:rPr>
              <a:t>온도 추정기 출력이 5도 이상 변하면 홀 센서 보정 블록이 오프셋 테이블을 다시 읽고, 변화율이 초당 1도를 넘으면 보간 간격을 절반으로 줄인다.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평가 결과: 온도 드리프트 보상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371600"/>
          <a:ext cx="566928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583680" y="17373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 b="0">
                <a:solidFill>
                  <a:srgbClr val="1F2937"/>
                </a:solidFill>
              </a:rPr>
              <a:t>연속 촬영 10분 조건에서 보정 중심 이동량이 기존 대비 62% 감소</a:t>
            </a:r>
          </a:p>
          <a:p>
            <a:pPr/>
            <a:r>
              <a:rPr sz="1700" b="0">
                <a:solidFill>
                  <a:srgbClr val="1F2937"/>
                </a:solidFill>
              </a:rPr>
              <a:t>저온 조건은 4분기에 추가 평가 예정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자동 초점: 정착 시간 단축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D5BB8"/>
                </a:solidFill>
              </a:rPr>
              <a:t>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5303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 b="0">
                <a:solidFill>
                  <a:srgbClr val="1F2937"/>
                </a:solidFill>
              </a:rPr>
              <a:t>렌즈 무게 증가로 초점 정착 시간이 길어짐</a:t>
            </a:r>
          </a:p>
          <a:p>
            <a:pPr/>
            <a:r>
              <a:rPr sz="1700" b="0">
                <a:solidFill>
                  <a:srgbClr val="1F2937"/>
                </a:solidFill>
              </a:rPr>
              <a:t>촬영 자세에 따라 초점 위치 편차가 발생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6792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D5BB8"/>
                </a:solidFill>
              </a:rPr>
              <a:t>제안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6792" y="1965960"/>
            <a:ext cx="5303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 b="0">
                <a:solidFill>
                  <a:srgbClr val="1F2937"/>
                </a:solidFill>
              </a:rPr>
              <a:t>가속도 센서로 촬영 자세를 판별하고 자세별 중력 보상 전류를 구동 지령에 더한다</a:t>
            </a:r>
          </a:p>
          <a:p>
            <a:pPr/>
            <a:r>
              <a:rPr sz="1700" b="0">
                <a:solidFill>
                  <a:srgbClr val="1F2937"/>
                </a:solidFill>
              </a:rPr>
              <a:t>정착 구간에서 목표 위치 오차의 부호가 바뀌는 시점에 제동 펄스를 인가하여 오버슈트를 줄인다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자동 초점 구동 조건 비교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9167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1000"/>
                <a:gridCol w="4880335"/>
                <a:gridCol w="3327501"/>
                <a:gridCol w="1552834"/>
              </a:tblGrid>
              <a:tr h="548640">
                <a:tc>
                  <a:txBody>
                    <a:bodyPr/>
                    <a:lstStyle/>
                    <a:p>
                      <a:r>
                        <a:rPr sz="1400" b="1"/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구동 방식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정착 판정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비고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기존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개루프 스텝 구동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고정 대기 시간 12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변경 없음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제안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홀 센서 폐루프 제어에 자세별 중력 보상 전류를 더함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오차 2 μm 이내 3회 연속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신규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제안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제동 펄스 폭을 렌즈 무게 등급별 테이블에서 선택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오차 부호 반전 시점 기준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신규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평가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11월 2주차 시제품 평가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-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평가 결과 및 남은 과제: 자동 초점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91672" cy="4846320"/>
          </a:xfrm>
        </p:spPr>
        <p:txBody>
          <a:bodyPr wrap="square"/>
          <a:lstStyle/>
          <a:p>
            <a:pPr/>
            <a:r>
              <a:rPr sz="1800" b="0">
                <a:solidFill>
                  <a:srgbClr val="1F2937"/>
                </a:solidFill>
              </a:rPr>
              <a:t>정착 시간 평균이 9.8 ms에서 6.1 ms로 단축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저조도 조건의 초점 탐색 실패율은 추가 분석 필요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기존 알고리즘을 일부 개선하여 적용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렌즈와 센서의 능동 정렬 공정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91672" cy="4846320"/>
          </a:xfrm>
        </p:spPr>
        <p:txBody>
          <a:bodyPr wrap="square"/>
          <a:lstStyle/>
          <a:p>
            <a:pPr/>
            <a:r>
              <a:rPr sz="1800" b="0">
                <a:solidFill>
                  <a:srgbClr val="1F2937"/>
                </a:solidFill>
              </a:rPr>
              <a:t>배경: 고화소 센서에서 주변부 해상력 편차가 수율의 주요 손실 요인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제안: 5개 영역의 초점 위치별 해상력 곡선 정점으로 센서 기울기를 계산하고 6축 스테이지를 2회 반복 보정한다</a:t>
            </a:r>
          </a:p>
          <a:p>
            <a:pPr lvl="1"/>
            <a:r>
              <a:rPr sz="1600" b="0">
                <a:solidFill>
                  <a:srgbClr val="1F2937"/>
                </a:solidFill>
              </a:rPr>
              <a:t>1차는 0.5 μm 간격의 거친 탐색, 2차는 정점 주변 3 μm 범위만 0.1 μm 간격으로 탐색한다</a:t>
            </a:r>
          </a:p>
          <a:p>
            <a:pPr lvl="1"/>
            <a:r>
              <a:rPr sz="1600" b="0">
                <a:solidFill>
                  <a:srgbClr val="1F2937"/>
                </a:solidFill>
              </a:rPr>
              <a:t>자외선 가경화 직후 해상력을 다시 측정하여 수축으로 생긴 기울기 변화를 다음 모듈의 보정 목표에 반영한다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설비 2호기에 우선 적용하여 검증 중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능동 정렬 공정 조건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91671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4667"/>
                <a:gridCol w="6211336"/>
                <a:gridCol w="3105668"/>
              </a:tblGrid>
              <a:tr h="548640">
                <a:tc>
                  <a:txBody>
                    <a:bodyPr/>
                    <a:lstStyle/>
                    <a:p>
                      <a:r>
                        <a:rPr sz="1400" b="1"/>
                        <a:t>단계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조건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판정 기준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거친 정렬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5개 영역 해상력 정점의 위치 편차로 기울기를 산출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편차 4 μm 이내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정밀 정렬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정점 주변 3 μm 구간만 0.1 μm 간격으로 재탐색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편차 1 μm 이내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가경화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자외선을 20% 출력으로 1초 조사한 뒤 100% 출력으로 3초 조사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수축량 0.8 μm 이하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본경화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열경화 조건은 기존과 동일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변경 없음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평가 결과: 능동 정렬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371600"/>
          <a:ext cx="566928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583680" y="17373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 b="0">
                <a:solidFill>
                  <a:srgbClr val="1F2937"/>
                </a:solidFill>
              </a:rPr>
              <a:t>주변부 해상력 편차가 9.4%에서 5.1%로 감소</a:t>
            </a:r>
          </a:p>
          <a:p>
            <a:pPr/>
            <a:r>
              <a:rPr sz="1700" b="0">
                <a:solidFill>
                  <a:srgbClr val="1F2937"/>
                </a:solidFill>
              </a:rPr>
              <a:t>택트 타임은 모듈당 1.2초 증가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폴디드 줌 모듈: 열 초점 보상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91672" cy="4846320"/>
          </a:xfrm>
        </p:spPr>
        <p:txBody>
          <a:bodyPr wrap="square"/>
          <a:lstStyle/>
          <a:p>
            <a:pPr/>
            <a:r>
              <a:rPr sz="1800" b="0">
                <a:solidFill>
                  <a:srgbClr val="1F2937"/>
                </a:solidFill>
              </a:rPr>
              <a:t>배경: 장초점 모듈은 온도 변화에 따른 초점 이동이 큼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제안: 렌즈 배럴 온도 센서 값과 줌 위치의 2차원 테이블로 초점 보상량을 산출한다</a:t>
            </a:r>
          </a:p>
          <a:p>
            <a:pPr lvl="1"/>
            <a:r>
              <a:rPr sz="1600" b="0">
                <a:solidFill>
                  <a:srgbClr val="1F2937"/>
                </a:solidFill>
              </a:rPr>
              <a:t>테이블은 생산 단계에서 3개 온도점만 측정하고 중간 값은 배럴 재질의 팽창 계수로 보간한다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프리즘 구동부는 볼 가이드의 예압을 자석 흡인력으로 유지하고 구동 코일을 프리즘 양측에 대칭으로 배치한 구조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양산 적용 여부는 고객 일정에 따라 결정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프리즘 구동부 구조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548640" y="1737360"/>
            <a:ext cx="11091670" cy="914400"/>
            <a:chOff x="548640" y="1737360"/>
            <a:chExt cx="11091670" cy="914400"/>
          </a:xfrm>
        </p:grpSpPr>
        <p:sp>
          <p:nvSpPr>
            <p:cNvPr id="4" name="Rounded Rectangle 3"/>
            <p:cNvSpPr/>
            <p:nvPr/>
          </p:nvSpPr>
          <p:spPr>
            <a:xfrm>
              <a:off x="548640" y="1737360"/>
              <a:ext cx="1889150" cy="914400"/>
            </a:xfrm>
            <a:prstGeom prst="roundRect">
              <a:avLst/>
            </a:prstGeom>
            <a:solidFill>
              <a:srgbClr val="E8EEF8"/>
            </a:solidFill>
            <a:ln>
              <a:solidFill>
                <a:srgbClr val="1D5BB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500" b="0">
                  <a:solidFill>
                    <a:srgbClr val="1F2937"/>
                  </a:solidFill>
                </a:rPr>
                <a:t>프리즘 홀더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849270" y="1737360"/>
              <a:ext cx="1889150" cy="914400"/>
            </a:xfrm>
            <a:prstGeom prst="roundRect">
              <a:avLst/>
            </a:prstGeom>
            <a:solidFill>
              <a:srgbClr val="E8EEF8"/>
            </a:solidFill>
            <a:ln>
              <a:solidFill>
                <a:srgbClr val="1D5BB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500" b="0">
                  <a:solidFill>
                    <a:srgbClr val="1F2937"/>
                  </a:solidFill>
                </a:rPr>
                <a:t>볼 가이드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149900" y="1737360"/>
              <a:ext cx="1889150" cy="914400"/>
            </a:xfrm>
            <a:prstGeom prst="roundRect">
              <a:avLst/>
            </a:prstGeom>
            <a:solidFill>
              <a:srgbClr val="E8EEF8"/>
            </a:solidFill>
            <a:ln>
              <a:solidFill>
                <a:srgbClr val="1D5BB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500" b="0">
                  <a:solidFill>
                    <a:srgbClr val="1F2937"/>
                  </a:solidFill>
                </a:rPr>
                <a:t>구동 코일(좌)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7450530" y="1737360"/>
              <a:ext cx="1889150" cy="914400"/>
            </a:xfrm>
            <a:prstGeom prst="roundRect">
              <a:avLst/>
            </a:prstGeom>
            <a:solidFill>
              <a:srgbClr val="E8EEF8"/>
            </a:solidFill>
            <a:ln>
              <a:solidFill>
                <a:srgbClr val="1D5BB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500" b="0">
                  <a:solidFill>
                    <a:srgbClr val="1F2937"/>
                  </a:solidFill>
                </a:rPr>
                <a:t>구동 코일(우)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9751160" y="1737360"/>
              <a:ext cx="1889150" cy="914400"/>
            </a:xfrm>
            <a:prstGeom prst="roundRect">
              <a:avLst/>
            </a:prstGeom>
            <a:solidFill>
              <a:srgbClr val="E8EEF8"/>
            </a:solidFill>
            <a:ln>
              <a:solidFill>
                <a:srgbClr val="1D5BB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500" b="0">
                  <a:solidFill>
                    <a:srgbClr val="1F2937"/>
                  </a:solidFill>
                </a:rPr>
                <a:t>위치 센서</a:t>
              </a:r>
            </a:p>
          </p:txBody>
        </p:sp>
      </p:grpSp>
      <p:sp>
        <p:nvSpPr>
          <p:cNvPr id="5" name="Right Arrow 4"/>
          <p:cNvSpPr/>
          <p:nvPr/>
        </p:nvSpPr>
        <p:spPr>
          <a:xfrm>
            <a:off x="2501798" y="2057400"/>
            <a:ext cx="283464" cy="274320"/>
          </a:xfrm>
          <a:prstGeom prst="rightArrow">
            <a:avLst/>
          </a:prstGeom>
          <a:solidFill>
            <a:srgbClr val="1D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Arrow 6"/>
          <p:cNvSpPr/>
          <p:nvPr/>
        </p:nvSpPr>
        <p:spPr>
          <a:xfrm>
            <a:off x="4802428" y="2057400"/>
            <a:ext cx="283464" cy="274320"/>
          </a:xfrm>
          <a:prstGeom prst="rightArrow">
            <a:avLst/>
          </a:prstGeom>
          <a:solidFill>
            <a:srgbClr val="1D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7103058" y="2057400"/>
            <a:ext cx="283464" cy="274320"/>
          </a:xfrm>
          <a:prstGeom prst="rightArrow">
            <a:avLst/>
          </a:prstGeom>
          <a:solidFill>
            <a:srgbClr val="1D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9403688" y="2057400"/>
            <a:ext cx="283464" cy="274320"/>
          </a:xfrm>
          <a:prstGeom prst="rightArrow">
            <a:avLst/>
          </a:prstGeom>
          <a:solidFill>
            <a:srgbClr val="1D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00400"/>
            <a:ext cx="1109167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F2937"/>
                </a:solidFill>
              </a:rPr>
              <a:t>좌우 구동 코일의 전류 차이로 프리즘의 좌우 기울기를 보정하며, 위치 센서 두 개의 출력 차이가 기준을 넘으면 전류 차이를 출력 차이에 비례하도록 제어한다.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평가 결과 및 남은 과제: 폴디드 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91672" cy="4846320"/>
          </a:xfrm>
        </p:spPr>
        <p:txBody>
          <a:bodyPr wrap="square"/>
          <a:lstStyle/>
          <a:p>
            <a:pPr/>
            <a:r>
              <a:rPr sz="1800" b="0">
                <a:solidFill>
                  <a:srgbClr val="1F2937"/>
                </a:solidFill>
              </a:rPr>
              <a:t>고온 60도 조건의 초점 이동량이 기존 대비 절반 수준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낙하 충격 후 프리즘 위치 복원 성능은 추가 시험 예정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고객 요구 사양 확정은 11월 말로 예상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거리 측정 센서: 다중 주파수 위상 복원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91672" cy="4846320"/>
          </a:xfrm>
        </p:spPr>
        <p:txBody>
          <a:bodyPr wrap="square"/>
          <a:lstStyle/>
          <a:p>
            <a:pPr/>
            <a:r>
              <a:rPr sz="1800" b="0">
                <a:solidFill>
                  <a:srgbClr val="1F2937"/>
                </a:solidFill>
              </a:rPr>
              <a:t>배경: 단일 변조 주파수는 측정 가능 거리와 정밀도가 서로 상충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제안: 100 MHz와 20 MHz 두 변조 주파수의 위상을 조합하여 거리 모호성을 해소한다</a:t>
            </a:r>
          </a:p>
          <a:p>
            <a:pPr lvl="1"/>
            <a:r>
              <a:rPr sz="1600" b="0">
                <a:solidFill>
                  <a:srgbClr val="1F2937"/>
                </a:solidFill>
              </a:rPr>
              <a:t>저주파 위상으로 구간 번호를 정하고 고주파 위상으로 구간 안의 거리를 계산한다</a:t>
            </a:r>
          </a:p>
          <a:p>
            <a:pPr lvl="1"/>
            <a:r>
              <a:rPr sz="1600" b="0">
                <a:solidFill>
                  <a:srgbClr val="1F2937"/>
                </a:solidFill>
              </a:rPr>
              <a:t>두 주파수의 진폭 비가 기준 범위를 벗어난 화소는 다중 경로 반사로 판정하여 주변 화소의 중앙값으로 대체한다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광원 구동 전류는 포화 화소 비율이 5%를 넘으면 한 단계 낮추고 1% 미만이면 한 단계 높인다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눈 안전 보호 조건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9167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0167"/>
                <a:gridCol w="6876836"/>
                <a:gridCol w="1774667"/>
              </a:tblGrid>
              <a:tr h="548640">
                <a:tc>
                  <a:txBody>
                    <a:bodyPr/>
                    <a:lstStyle/>
                    <a:p>
                      <a:r>
                        <a:rPr sz="1400" b="1"/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조건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비고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광 출력 감시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감시용 수광 소자의 전류가 상한을 0.5 ms 이상 넘으면 구동기를 차단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신규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확산판 이탈 감지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확산판 위 투명 전극의 저항이 기준을 벗어나면 발광을 금지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신규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인증 일정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12월 시험 기관 접수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-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평가 결과 및 남은 과제: 거리 측정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91672" cy="4846320"/>
          </a:xfrm>
        </p:spPr>
        <p:txBody>
          <a:bodyPr wrap="square"/>
          <a:lstStyle/>
          <a:p>
            <a:pPr/>
            <a:r>
              <a:rPr sz="1800" b="0">
                <a:solidFill>
                  <a:srgbClr val="1F2937"/>
                </a:solidFill>
              </a:rPr>
              <a:t>측정 가능 거리 6 m에서 거리 오차 1% 이내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강한 햇빛 조건의 잡음 증가는 추가 대책 필요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위상 계산 방식은 기존 방식을 바탕으로 보완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차량용 카메라 모듈: 렌즈 히터와 오염 감지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91672" cy="4846320"/>
          </a:xfrm>
        </p:spPr>
        <p:txBody>
          <a:bodyPr wrap="square"/>
          <a:lstStyle/>
          <a:p>
            <a:pPr/>
            <a:r>
              <a:rPr sz="1800" b="0">
                <a:solidFill>
                  <a:srgbClr val="1F2937"/>
                </a:solidFill>
              </a:rPr>
              <a:t>배경: 겨울철 렌즈 결빙과 김서림으로 인식 성능이 저하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제안: 렌즈 히터를 영상 선명도 변화로 제어한다</a:t>
            </a:r>
          </a:p>
          <a:p>
            <a:pPr lvl="1"/>
            <a:r>
              <a:rPr sz="1600" b="0">
                <a:solidFill>
                  <a:srgbClr val="1F2937"/>
                </a:solidFill>
              </a:rPr>
              <a:t>영상의 고주파 성분 감소율로 김서림을 감지하면 히터 듀티를 80%로 올리고 회복되면 30%로 유지한다</a:t>
            </a:r>
          </a:p>
          <a:p>
            <a:pPr lvl="1"/>
            <a:r>
              <a:rPr sz="1600" b="0">
                <a:solidFill>
                  <a:srgbClr val="1F2937"/>
                </a:solidFill>
              </a:rPr>
              <a:t>배터리 전압이 낮으면 히터 최대 듀티를 60%로 제한한다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렌즈 오염은 연속 프레임에서 움직이지 않는 저대비 영역의 면적으로 판정하고 면적이 3%를 넘으면 세척 요청 신호를 보낸다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오염 감지 처리 흐름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548640" y="1737360"/>
            <a:ext cx="11091670" cy="914400"/>
            <a:chOff x="548640" y="1737360"/>
            <a:chExt cx="11091670" cy="914400"/>
          </a:xfrm>
        </p:grpSpPr>
        <p:sp>
          <p:nvSpPr>
            <p:cNvPr id="4" name="Rounded Rectangle 3"/>
            <p:cNvSpPr/>
            <p:nvPr/>
          </p:nvSpPr>
          <p:spPr>
            <a:xfrm>
              <a:off x="548640" y="1737360"/>
              <a:ext cx="1889150" cy="914400"/>
            </a:xfrm>
            <a:prstGeom prst="roundRect">
              <a:avLst/>
            </a:prstGeom>
            <a:solidFill>
              <a:srgbClr val="E8EEF8"/>
            </a:solidFill>
            <a:ln>
              <a:solidFill>
                <a:srgbClr val="1D5BB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500" b="0">
                  <a:solidFill>
                    <a:srgbClr val="1F2937"/>
                  </a:solidFill>
                </a:rPr>
                <a:t>프레임 버퍼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849270" y="1737360"/>
              <a:ext cx="1889150" cy="914400"/>
            </a:xfrm>
            <a:prstGeom prst="roundRect">
              <a:avLst/>
            </a:prstGeom>
            <a:solidFill>
              <a:srgbClr val="E8EEF8"/>
            </a:solidFill>
            <a:ln>
              <a:solidFill>
                <a:srgbClr val="1D5BB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500" b="0">
                  <a:solidFill>
                    <a:srgbClr val="1F2937"/>
                  </a:solidFill>
                </a:rPr>
                <a:t>정지 영역 검출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149900" y="1737360"/>
              <a:ext cx="1889150" cy="914400"/>
            </a:xfrm>
            <a:prstGeom prst="roundRect">
              <a:avLst/>
            </a:prstGeom>
            <a:solidFill>
              <a:srgbClr val="E8EEF8"/>
            </a:solidFill>
            <a:ln>
              <a:solidFill>
                <a:srgbClr val="1D5BB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500" b="0">
                  <a:solidFill>
                    <a:srgbClr val="1F2937"/>
                  </a:solidFill>
                </a:rPr>
                <a:t>대비 계산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7450530" y="1737360"/>
              <a:ext cx="1889150" cy="914400"/>
            </a:xfrm>
            <a:prstGeom prst="roundRect">
              <a:avLst/>
            </a:prstGeom>
            <a:solidFill>
              <a:srgbClr val="E8EEF8"/>
            </a:solidFill>
            <a:ln>
              <a:solidFill>
                <a:srgbClr val="1D5BB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500" b="0">
                  <a:solidFill>
                    <a:srgbClr val="1F2937"/>
                  </a:solidFill>
                </a:rPr>
                <a:t>면적 판정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9751160" y="1737360"/>
              <a:ext cx="1889150" cy="914400"/>
            </a:xfrm>
            <a:prstGeom prst="roundRect">
              <a:avLst/>
            </a:prstGeom>
            <a:solidFill>
              <a:srgbClr val="E8EEF8"/>
            </a:solidFill>
            <a:ln>
              <a:solidFill>
                <a:srgbClr val="1D5BB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500" b="0">
                  <a:solidFill>
                    <a:srgbClr val="1F2937"/>
                  </a:solidFill>
                </a:rPr>
                <a:t>세척 요청</a:t>
              </a:r>
            </a:p>
          </p:txBody>
        </p:sp>
      </p:grpSp>
      <p:sp>
        <p:nvSpPr>
          <p:cNvPr id="5" name="Right Arrow 4"/>
          <p:cNvSpPr/>
          <p:nvPr/>
        </p:nvSpPr>
        <p:spPr>
          <a:xfrm>
            <a:off x="2501798" y="2057400"/>
            <a:ext cx="283464" cy="274320"/>
          </a:xfrm>
          <a:prstGeom prst="rightArrow">
            <a:avLst/>
          </a:prstGeom>
          <a:solidFill>
            <a:srgbClr val="1D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Arrow 6"/>
          <p:cNvSpPr/>
          <p:nvPr/>
        </p:nvSpPr>
        <p:spPr>
          <a:xfrm>
            <a:off x="4802428" y="2057400"/>
            <a:ext cx="283464" cy="274320"/>
          </a:xfrm>
          <a:prstGeom prst="rightArrow">
            <a:avLst/>
          </a:prstGeom>
          <a:solidFill>
            <a:srgbClr val="1D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7103058" y="2057400"/>
            <a:ext cx="283464" cy="274320"/>
          </a:xfrm>
          <a:prstGeom prst="rightArrow">
            <a:avLst/>
          </a:prstGeom>
          <a:solidFill>
            <a:srgbClr val="1D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9403688" y="2057400"/>
            <a:ext cx="283464" cy="274320"/>
          </a:xfrm>
          <a:prstGeom prst="rightArrow">
            <a:avLst/>
          </a:prstGeom>
          <a:solidFill>
            <a:srgbClr val="1D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00400"/>
            <a:ext cx="1109167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F2937"/>
                </a:solidFill>
              </a:rPr>
              <a:t>정지 영역 검출은 30개 프레임 동안 화소값 변화가 기준보다 작은 영역을 찾고, 차량이 정차 중일 때는 판정을 멈추어 배경을 오염으로 잘못 보는 것을 막는다.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평가 결과: 차량용 카메라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371600"/>
          <a:ext cx="566928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583680" y="17373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 b="0">
                <a:solidFill>
                  <a:srgbClr val="1F2937"/>
                </a:solidFill>
              </a:rPr>
              <a:t>김서림 조건에서 인식 회복 시간이 평균 8초</a:t>
            </a:r>
          </a:p>
          <a:p>
            <a:pPr/>
            <a:r>
              <a:rPr sz="1700" b="0">
                <a:solidFill>
                  <a:srgbClr val="1F2937"/>
                </a:solidFill>
              </a:rPr>
              <a:t>신뢰성 시험 1,000시간 통과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이물 검사: 조리개 2단계 비교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91672" cy="4846320"/>
          </a:xfrm>
        </p:spPr>
        <p:txBody>
          <a:bodyPr wrap="square"/>
          <a:lstStyle/>
          <a:p>
            <a:pPr/>
            <a:r>
              <a:rPr sz="1800" b="0">
                <a:solidFill>
                  <a:srgbClr val="1F2937"/>
                </a:solidFill>
              </a:rPr>
              <a:t>배경: 센서 표면 이물은 출하 후 불량의 주요 원인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제안: 균일 광원 영상을 조리개 2단계로 촬영하고 두 결과를 비교하여 이물이 놓인 면을 구분한다</a:t>
            </a:r>
          </a:p>
          <a:p>
            <a:pPr lvl="1"/>
            <a:r>
              <a:rPr sz="1600" b="0">
                <a:solidFill>
                  <a:srgbClr val="1F2937"/>
                </a:solidFill>
              </a:rPr>
              <a:t>조리개를 조이면 선명해지는 흑점은 센서 표면, 변화가 없는 흑점은 필터 표면 이물로 분류한다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후보 영역은 고배율 카메라가 다시 촬영하고 분류기가 긁힘, 이물, 얼룩으로 나눈다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검사 시간 목표: 모듈당 2.5초 이내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이물 검사 단계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91671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2834"/>
                <a:gridCol w="7320503"/>
                <a:gridCol w="2218334"/>
              </a:tblGrid>
              <a:tr h="548640">
                <a:tc>
                  <a:txBody>
                    <a:bodyPr/>
                    <a:lstStyle/>
                    <a:p>
                      <a:r>
                        <a:rPr sz="1400" b="1"/>
                        <a:t>단계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처리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비고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1차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조리개 2단계 영상의 흑점 선명도 차이로 이물 위치 면을 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신규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2차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후보 영역만 고배율로 재촬영한 뒤 세 종류로 분류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신규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기록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검사 결과는 생산 관리 시스템에 저장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기존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품질 및 공정 이슈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D5BB8"/>
                </a:solidFill>
              </a:rPr>
              <a:t>이슈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5303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 b="0">
                <a:solidFill>
                  <a:srgbClr val="1F2937"/>
                </a:solidFill>
              </a:rPr>
              <a:t>시제품 2차 로트에서 접착제 도포량 편차가 발생</a:t>
            </a:r>
          </a:p>
          <a:p>
            <a:pPr/>
            <a:r>
              <a:rPr sz="1700" b="0">
                <a:solidFill>
                  <a:srgbClr val="1F2937"/>
                </a:solidFill>
              </a:rPr>
              <a:t>렌즈 공급사 납기가 2주 지연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6792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D5BB8"/>
                </a:solidFill>
              </a:rPr>
              <a:t>대응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6792" y="1965960"/>
            <a:ext cx="5303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 b="0">
                <a:solidFill>
                  <a:srgbClr val="1F2937"/>
                </a:solidFill>
              </a:rPr>
              <a:t>도포 노즐 압력을 도포 직전 중량 측정값으로 보정하고 3회 연속 범위를 벗어나면 노즐을 자동 세정한다</a:t>
            </a:r>
          </a:p>
          <a:p>
            <a:pPr/>
            <a:r>
              <a:rPr sz="1700" b="0">
                <a:solidFill>
                  <a:srgbClr val="1F2937"/>
                </a:solidFill>
              </a:rPr>
              <a:t>공급사와 주간 점검 회의를 운영하고 대체 공급선을 검토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지식재산 현황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91672" cy="4846320"/>
          </a:xfrm>
        </p:spPr>
        <p:txBody>
          <a:bodyPr wrap="square"/>
          <a:lstStyle/>
          <a:p>
            <a:pPr/>
            <a:r>
              <a:rPr sz="1800" b="0">
                <a:solidFill>
                  <a:srgbClr val="1F2937"/>
                </a:solidFill>
              </a:rPr>
              <a:t>3분기 발명신고 4건 접수, 2건은 출원 진행 중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출원 검토 회의는 11월 2주차에 진행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경쟁사 공개 특허 모니터링 결과는 별도 보고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시제품 외부 공개 전에 출원 여부를 확정하는 절차를 유지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리스크 및 대응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9167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7501"/>
                <a:gridCol w="3327501"/>
                <a:gridCol w="4436668"/>
              </a:tblGrid>
              <a:tr h="548640">
                <a:tc>
                  <a:txBody>
                    <a:bodyPr/>
                    <a:lstStyle/>
                    <a:p>
                      <a:r>
                        <a:rPr sz="1400" b="1"/>
                        <a:t>리스크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영향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대응 계획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핵심 부품 수급 지연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일정 2주 지연 가능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대체 공급선 확보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평가 장비 부족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시험 대기 발생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장비 임차 검토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고객 사양 변경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설계 재검토 필요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변경 관리 회의 운영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예산 및 투자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91672" cy="4846320"/>
          </a:xfrm>
        </p:spPr>
        <p:txBody>
          <a:bodyPr wrap="square"/>
          <a:lstStyle/>
          <a:p>
            <a:pPr/>
            <a:r>
              <a:rPr sz="1800" b="0">
                <a:solidFill>
                  <a:srgbClr val="1F2937"/>
                </a:solidFill>
              </a:rPr>
              <a:t>3분기 예산 집행률 68%, 연간 계획 대비 3%p 낮음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4분기 설비 투자 2건은 품의 승인 대기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외주 평가 비용은 내년 예산에 반영 예정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향후 계획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91672" cy="4846320"/>
          </a:xfrm>
        </p:spPr>
        <p:txBody>
          <a:bodyPr wrap="square"/>
          <a:lstStyle/>
          <a:p>
            <a:pPr/>
            <a:r>
              <a:rPr sz="1800" b="0">
                <a:solidFill>
                  <a:srgbClr val="1F2937"/>
                </a:solidFill>
              </a:rPr>
              <a:t>4분기에 시제품 3차 평가와 양산 이관 심의를 진행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내년 1분기 신규 과제 2건 착수 예정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평가 인력 2명 충원 요청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참고: 평가 현장 사진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1109167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2377440"/>
            <a:ext cx="11091672" cy="1188720"/>
          </a:xfrm>
        </p:spPr>
        <p:txBody>
          <a:bodyPr/>
          <a:lstStyle/>
          <a:p>
            <a:r>
              <a:rPr sz="3600" b="1">
                <a:solidFill>
                  <a:srgbClr val="1F2937"/>
                </a:solidFill>
              </a:rP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3657600"/>
            <a:ext cx="11091672" cy="822960"/>
          </a:xfrm>
        </p:spPr>
        <p:txBody>
          <a:bodyPr/>
          <a:lstStyle/>
          <a:p>
            <a:r>
              <a:rPr sz="2000" b="0"/>
              <a:t>질의 응답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1672" cy="822960"/>
          </a:xfrm>
        </p:spPr>
        <p:txBody>
          <a:bodyPr/>
          <a:lstStyle/>
          <a:p>
            <a:pPr algn="l"/>
            <a:r>
              <a:rPr sz="2800" b="1">
                <a:solidFill>
                  <a:srgbClr val="1F2937"/>
                </a:solidFill>
              </a:rPr>
              <a:t>백업: 보류 과제 메모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91672" cy="4846320"/>
          </a:xfrm>
        </p:spPr>
        <p:txBody>
          <a:bodyPr wrap="square"/>
          <a:lstStyle/>
          <a:p>
            <a:pPr/>
            <a:r>
              <a:rPr sz="1800" b="0">
                <a:solidFill>
                  <a:srgbClr val="1F2937"/>
                </a:solidFill>
              </a:rPr>
              <a:t>자이로 신호의 저주파 성분은 고역 통과 필터의 차단 주파수를 촬영 모드별로 바꾸어 제거한다</a:t>
            </a:r>
          </a:p>
          <a:p>
            <a:pPr/>
            <a:r>
              <a:rPr sz="1800" b="0">
                <a:solidFill>
                  <a:srgbClr val="1F2937"/>
                </a:solidFill>
              </a:rPr>
              <a:t>해당 과제는 내년에 재검토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