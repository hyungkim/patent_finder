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기판 온도별 광량 유지율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85도</c:v>
                </c:pt>
                <c:pt idx="1">
                  <c:v>95도</c:v>
                </c:pt>
                <c:pt idx="2">
                  <c:v>105도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84</c:v>
                </c:pt>
                <c:pt idx="2">
                  <c:v>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속도별 토크 리플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저속</c:v>
                </c:pt>
                <c:pt idx="1">
                  <c:v>중속</c:v>
                </c:pt>
                <c:pt idx="2">
                  <c:v>고속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0.8</c:v>
                </c:pt>
                <c:pt idx="2">
                  <c:v>0.7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온도 기준값은 차종별 열 해석 결과로 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Synthetic Notice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테스트용 합성 자료 - 실제 사업 내용과 무관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03120"/>
            <a:ext cx="11091672" cy="1371600"/>
          </a:xfrm>
        </p:spPr>
        <p:txBody>
          <a:bodyPr/>
          <a:lstStyle/>
          <a:p>
            <a:r>
              <a:rPr sz="3600" b="1">
                <a:solidFill>
                  <a:srgbClr val="1F2937"/>
                </a:solidFill>
              </a:rPr>
              <a:t>모빌리티솔루션사업부 3분기 기술개발 현황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1672" cy="914400"/>
          </a:xfrm>
        </p:spPr>
        <p:txBody>
          <a:bodyPr/>
          <a:lstStyle/>
          <a:p>
            <a:r>
              <a:rPr sz="1800" b="0"/>
              <a:t>테스트용 합성 자료 - 실제 사업 내용과 무관 (2026년 10월)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1. 요약 및 주요 지표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2. 시장 및 고객 동향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3. 과제별 기술 진행 현황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4. 품질 및 공정 이슈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5. 지식재산 및 리스크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6. 일정, 예산과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요약 및 주요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핵심 과제 8건 중 6건이 계획대로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조명 모듈 신규 과제의 시제품 평가 완료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무선 배터리 관리 시스템은 차량 탑재 시험 준비 단계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통신 모듈 인증 시험은 11월 접수 예정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시장 및 고객 동향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전기차와 소프트웨어 중심 차량 확대로 전장 부품 수요가 증가하는 추세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완성차 고객은 부품 통합과 경량화를 요구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차량 조명은 디자인 차별화 수단으로 활용이 늘고 있음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차량 통신 규격 전환 일정이 지역별로 달라 대응이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과제 현황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68"/>
                <a:gridCol w="2662001"/>
                <a:gridCol w="1774667"/>
                <a:gridCol w="288383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조명 모듈 열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시제품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디지털 키 위치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알고리즘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통신 모듈 열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설계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무선 배터리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탑재 시험 준비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일정 주의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모터 토크 리플 저감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양산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전력 변환기 효율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실내 레이더 탑승자 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현장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충전 통신 제어기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기획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추진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10월: 조명 모듈 고객 평가와 통신 모듈 설계 검증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11월: 인증 시험 접수와 탑재 시험 차량 준비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12월: 양산 이관 심의와 연간 결과 보고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과제 점검 회의는 격주 화요일에 진행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차량 조명 모듈: 열과 밝기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면광원 조명은 구간별 밝기 균일도와 발열 관리가 과제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발광 소자 열별 전류를 기판 온도 센서 값에 따라 낮추는 제어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기판 온도 85도부터 1도 오를 때마다 전류를 2%씩 낮추고 105도에서 최소 전류로 고정한다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열별 순방향 전압 편차로 단선과 단락을 판별하여 해당 열만 차단한다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환영 점등 동작은 화소별 밝기 목표값을 20 ms 주기로 보간하고 인접 화소 간 밝기 차이를 15% 이내로 제한한다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적용 대상: 차세대 후미등 과제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조명 제어 블록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온도 센서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전류 지령 계산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열별 구동기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전압 감시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고장 판정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전압 감시 블록이 한 열의 전압이 평균보다 1.5 V 이상 낮다고 판단하면 단락으로 보고 그 열의 구동기를 끄며, 나머지 열의 전류 지령을 올려 전체 밝기를 유지한다.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조명 모듈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고온 조건에서도 규격 하한 60% 이상을 유지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환영 점등 동작의 끊김 현상은 고객 평가에서 지적되지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디지털 키: 거리 측정과 위치 판정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금속 차체 반사로 거리 측정 오차가 커지는 경우가 있음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차량 앵커 4개의 거리 측정값 중 첫 경로 신호가 약한 측정을 제외하고 나머지로 위치를 계산한다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제외 기준은 첫 경로 신호 세기와 전체 수신 세기의 차이가 6 dB 이상인 경우로 둔다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실내와 실외 판정은 실내 앵커와 실외 앵커 거리 차이의 이동 평균으로 하고 경계에서는 0.3 m의 히스테리시스를 둔다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거리 측정 왕복 시간이 직전 측정 대비 불연속적으로 늘어나면 중계 공격 가능성으로 보고 문 열림을 보류한 뒤 재측정을 3회 요구한다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실차 시험은 주차장과 개활지 두 환경에서 진행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위치 판정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5102169"/>
                <a:gridCol w="37711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동작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측정 제외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첫 경로와 전체 수신 세기의 차이가 6 dB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해당 앵커 값을 계산에서 제외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실내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거리 차이 이동 평균이 경계를 0.3 m 이상 넘음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시동 허용 상태로 전환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중계 공격 의심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왕복 시간이 직전 대비 불연속으로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문 열림 보류 후 3회 재측정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시험 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11월 실차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결과는 12월 보고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디지털 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실내 판정 정확도 97.8%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우천 조건의 측정 오차는 추가 시험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판정 알고리즘을 개선하여 오차를 줄임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차량 통신 모듈: 열 관리와 안테나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고온 환경에서 통신 모듈 온도가 한계에 근접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차체 가림으로 한쪽 안테나 수신 품질이 급격히 떨어짐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모듈 온도가 95도를 넘으면 송신 전력을 1 dB씩 단계적으로 낮추고 90도 이하로 3초 유지되면 한 단계씩 복귀한다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안테나 2개의 수신 품질을 100 ms마다 비교하여 차이가 3 dB 이상이면 송신 안테나를 전환한다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통신 모듈 동작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7098670"/>
                <a:gridCol w="19965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전력 저감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95도 초과 시 1 dB씩 단계 저감하고 90도 이하 3초 유지 시 복귀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안테나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수신 품질 차이 3 dB 이상이 2회 연속이면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방열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기존 방열판 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변경 없음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11월 시험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무선 배터리 관리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배선 제거로 무게와 조립 공수를 줄일 수 있으나 통신 신뢰성이 과제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셀 감시 노드가 채널별 패킷 오류율을 측정하여 2%를 넘는 채널을 호핑 목록에서 제외한다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제외된 채널은 60초 뒤 탐색 패킷으로 다시 평가한다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모든 노드가 주 제어기의 동기 신호를 받은 뒤 고정 지연 후 동시에 셀 전압을 측정한다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셀 균형 제어는 전압 편차가 15 mV를 넘는 셀에만 방전 저항을 연결하고 셀 온도가 50도를 넘으면 중단한다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탑재 시험 차량은 11월에 준비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무선 배터리 관리 시스템 구성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셀 감시 노드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무선 송수신부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주 제어기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채널 품질 관리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균형 제어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주 제어기는 노드별 응답 지연이 기준을 넘는 횟수를 세어 3회 연속이면 그 노드의 전송 주기를 절반으로 줄이고, 회복되면 원래 주기로 되돌린다.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무선 배터리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실험실 조건에서 패킷 손실률 0.01% 이하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금속 케이스 내부 반사 환경은 추가 평가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보안 인증 요구 사항은 고객과 협의 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구동 모터: 토크 리플 저감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저속 조향 시 토크 리플이 조향감 저하로 이어짐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회전자 각도별 보상 전류 테이블로 코깅 토크를 상쇄한다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보상 테이블은 생산 라인에서 저속 회전 시 전류 리플을 측정하여 모터마다 기록한다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모터 온도가 오르면 자석 감자에 맞춰 보상 전류를 온도 계수로 줄인다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위치 센서 오차는 두 센서 출력으로 그린 도형의 타원도를 실시간으로 계산하여 진폭과 위상 차이를 보정한다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양산 검증은 2개 라인에서 진행 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모터 보상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5989502"/>
                <a:gridCol w="31056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갱신 시점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코깅 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각도별 보상 전류 테이블을 지령 전류에 더함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생산 시 1회 기록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온도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권선 온도 추정값으로 보상 전류를 축소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주행 중 1초 주기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센서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두 출력의 진폭 비와 위상 차이를 계산하여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시동 후 상시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출하 검사 항목은 기존과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구동 모터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저속 구간 토크 리플이 2.4%에서 1.1%로 감소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소음 평가는 12월에 진행 예정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전력 변환기: 경부하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경부하 구간의 효율이 낮아 대기 전력 손실이 큼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부하 전류가 정격의 30% 미만이면 3개 상 중 1개 상만 동작시키고 60%를 넘으면 3개 상을 모두 동작시킨다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상 수를 바꾸기 직전에 듀티를 미리 보상하여 출력 전압 흔들림을 줄인다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스위칭 데드타임을 인덕터 전류 크기에 따른 3구간 테이블로 조정하여 영전압 스위칭 구간을 넓힌다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효율 목표: 경부하 구간 92% 이상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전력 변환기 동작 구간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6655003"/>
                <a:gridCol w="221833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부하 구간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30%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1개 상만 동작하고 나머지 상은 정지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30~60%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2개 상 동작, 구간 경계에 5%의 히스테리시스를 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60% 초과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3개 상 모두 동작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기존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효율 측정은 10월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실내 레이더: 탑승자 감지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뒷좌석 방치 방지 규제로 탑승자 감지 기능 요구가 증가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호흡에 의한 미세 변위의 위상 변화 주기를 0.1~0.5 Hz 대역에서 검출하여 탑승자 유무를 판정한다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차량 진동 성분은 가속도 센서 신호와의 상관으로 추정하여 차감한다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인접 레이더와의 간섭을 피하기 위해 신호 시작 시간을 프레임마다 의사 난수로 흔들고 간섭이 검출된 구간은 인접 구간의 평균으로 대체한다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현장 시험은 차종 3개에서 진행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레이더 신호 처리 흐름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거리 구간 선택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위상 추출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진동 성분 제거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호흡 대역 검출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탑승자 판정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호흡 대역 검출 결과가 10초 동안 연속으로 기준을 넘으면 탑승자로 판정하고, 문이 잠긴 뒤 30초 안에 판정되면 경고 신호를 보낸다.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실내 레이더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어린이 인형 시험에서 감지율 98%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담요로 덮은 조건은 감지 시간이 길어져 추가 개선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규제 시험 일정은 내년 1분기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충전 통신 제어기 기획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충전기 종류에 따라 통신 신호 감쇠가 달라 연결 실패가 발생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연결 초기에 수신 신호 세기를 측정하여 송신 이득을 3단계 중에서 선택하고 실패하면 한 단계 높여 재시도한다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통신이 끊기면 충전 전류를 즉시 차단하지 않고 5초 동안 직전 전류의 50%로 유지하며 재연결을 시도한다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관련 규격 개정 동향을 조사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내년 1분기 시제품 제작 목표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품질 및 공정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이슈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조명 모듈 시제품에서 접착 부위 들뜸이 2건 발생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시험 차량 준비가 1주 지연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접착 전 표면에 플라스마 처리를 추가하고 처리 후 10분 안에 접착제를 도포하도록 공정 순서를 바꾼다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시험 차량은 다른 과제와 공유하여 일정 영향을 최소화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지식재산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발명신고 6건 접수, 2건은 출원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출원 검토 회의는 11월 1주차에 진행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고객 공동 개발 과제의 권리 귀속은 계약 조건에 따라 협의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핵심 과제는 고객 시연 전에 출원 여부를 확정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리스크 및 대응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501"/>
                <a:gridCol w="3327501"/>
                <a:gridCol w="44366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대응 계획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규격 개정 일정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인증 재시험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분기별 규격 동향 점검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시험 차량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탑재 시험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차량 공유 일정 조정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반도체 부품 수급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시제품 제작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대체 부품 사전 검증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예산 및 투자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예산 집행률 66%, 시험 비용 집행이 4분기에 집중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인증 시험 비용은 연간 계획 범위 안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시험 차량 임차 비용은 추가 품의 예정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4분기에 조명 모듈 양산 이관 심의를 진행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무선 배터리 관리 시스템 탑재 시험을 12월에 시작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신규 과제 1건을 내년 1분기에 착수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참고: 평가 현장 사진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1672" cy="1188720"/>
          </a:xfrm>
        </p:spPr>
        <p:txBody>
          <a:bodyPr/>
          <a:lstStyle/>
          <a:p>
            <a:r>
              <a:rPr sz="3600" b="1">
                <a:solidFill>
                  <a:srgbClr val="1F2937"/>
                </a:solidFill>
              </a:rP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1672" cy="822960"/>
          </a:xfrm>
        </p:spPr>
        <p:txBody>
          <a:bodyPr/>
          <a:lstStyle/>
          <a:p>
            <a:r>
              <a:rPr sz="2000" b="0"/>
              <a:t>질의 응답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백업: 보류 과제 메모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주차 중에는 레이더 송신 주기를 1초에서 5초로 늘리고 움직임이 감지되면 즉시 1초 주기로 되돌린다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해당 항목은 전력 소모 검토 후 재논의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