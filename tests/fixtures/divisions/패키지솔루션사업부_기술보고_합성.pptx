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리플로 후 휨 측정값 (μm)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기존</c:v>
                </c:pt>
                <c:pt idx="1">
                  <c:v>제안 1</c:v>
                </c:pt>
                <c:pt idx="2">
                  <c:v>제안 1+2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86</c:v>
                </c:pt>
                <c:pt idx="2">
                  <c:v>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패드 크기별 팔라듐 두께 편차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대형 패드</c:v>
                </c:pt>
                <c:pt idx="1">
                  <c:v>중형 패드</c:v>
                </c:pt>
                <c:pt idx="2">
                  <c:v>미세 패드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더미 배치 규칙은 제품군별 설계 기준서에 반영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Synthetic Notice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테스트용 합성 자료 - 실제 사업 내용과 무관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03120"/>
            <a:ext cx="11091672" cy="137160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패키지솔루션사업부 3분기 기술개발 현황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914400"/>
          </a:xfrm>
        </p:spPr>
        <p:txBody>
          <a:bodyPr/>
          <a:lstStyle/>
          <a:p>
            <a:r>
              <a:rPr sz="1800" b="0"/>
              <a:t>테스트용 합성 자료 - 실제 사업 내용과 무관 (2026년 10월)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1. 요약 및 주요 지표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2. 시장 및 고객 동향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3. 과제별 기술 진행 현황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4. 품질 및 공정 이슈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5. 지식재산 및 리스크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6. 일정, 예산과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요약 및 주요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핵심 과제 8건 중 6건이 계획대로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대면적 기판 시제품의 휨 평가 2차 완료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유리 코어 기판은 시험 라인 구축 단계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검사 자동화 설비 1대 추가 도입 검토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시장 및 고객 동향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고성능 연산용 반도체 수요 증가로 대면적 패키지 기판 수요가 확대되는 추세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고객사는 미세 회로와 낮은 휨을 동시에 요구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유리 코어 기판은 업계 전반에서 시험 생산이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원자재 가격 변동이 원가에 영향을 주고 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과제 현황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68"/>
                <a:gridCol w="2662001"/>
                <a:gridCol w="1774667"/>
                <a:gridCol w="28838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대면적 기판 휨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시제품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미세 회로 노광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공정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레이저 비아 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조건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도금 두께 균일도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설비 개조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일정 주의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유리 코어 관통 구멍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시험 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검사 판정 자동화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현장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표면처리 두께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조건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공정 간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추진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10월: 대면적 시제품 3차 제작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11월: 고객 평가용 샘플 제출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12월: 시험 라인 설비 반입과 연간 보고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공정 회의는 매주 목요일 오후에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대면적 기판: 휨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기판이 커질수록 리플로 공정에서 휨이 커져 실장 불량으로 이어짐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층별 구리 잔존율 차이를 5% 이내로 맞추는 더미 패턴 자동 배치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기판을 2 mm 격자로 나누고 상하층 잔존율 차이가 큰 격자부터 그물 모양 더미를 채운다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신호선 주변 150 μm 이내에는 더미를 배치하지 않는다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적층 프레스 냉각 구간의 강온 속도를 분당 2도에서 1도로 낮추고 유리전이온도 부근에서 10분간 유지한다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평가는 리플로 3회 후 휨 측정으로 진행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휨 제어 조건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834"/>
                <a:gridCol w="7542336"/>
                <a:gridCol w="19965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더미 패턴 수동 배치, 강온 속도 분당 2도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없음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제안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격자별 잔존율 차이로 더미를 자동 배치하고 신호선 주변은 제외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제안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유리전이온도 부근에서 10분 유지한 뒤 분당 1도로 강온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11월 고객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휨 제어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제안 1과 2를 함께 적용하면 휨이 기존 대비 46% 감소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대면적 제품군 전체로 확대 평가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미세 회로 형성: 구역별 노광 보정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패널 위치에 따라 회로 폭 편차가 커 미세 회로 수율이 낮음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패널을 16개 구역으로 나누고 구역별 도금 두께 측정값으로 다음 로트의 노광량을 보정한다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회로 폭이 목표보다 1 μm 넓으면 해당 구역 노광량을 3% 줄이는 비례 계수를 사용한다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시드층 에칭 시간은 구역별 회로 폭 평균의 최솟값을 기준으로 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정렬 마크 4점의 신축량으로 패널 변형을 계산하여 구역별 노광 배율을 따로 보정한다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적용 설비: 노광기 3호기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노광 보정 데이터 흐름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도금 두께 측정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회로 폭 측정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보정 계수 계산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노광 조건 갱신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에칭 시간 설정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회로 폭 측정값이 관리 한계를 2회 연속 벗어난 구역은 보정 계수 계산에 직전 5개 로트의 가중 평균을 쓰고, 최신 로트의 가중치를 0.5로 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노광 보정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구역 간 회로 폭 편차가 1.8 μm에서 0.9 μm로 감소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선폭 8 μm 이하 제품의 수율 개선 효과는 추가 확인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에칭 조건은 기존 방식을 일부 조정하여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레이저 비아 가공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비아 바닥 지름이 작아 도금 후 접속 신뢰성이 낮음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수지 잔사가 남으면 층간 박리로 이어짐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첫 펄스는 높은 에너지로, 이후 펄스는 60% 에너지로 조사하여 비아 상하 지름 비를 0.8 이상으로 유지한다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가공 직후 비아 바닥의 반사광 세기가 기준보다 낮으면 잔사로 판정하고 해당 비아에만 1펄스를 추가로 조사한다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레이저 비아 가공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5989502"/>
                <a:gridCol w="3105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판정 기준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펄스 에너지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1펄스는 100%, 2~3펄스는 60%로 단계 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상하 지름 비 0.8 이상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잔사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바닥 반사광 세기가 기준의 70% 미만이면 추가 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추가 조사 비율 2% 이하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잔사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약품 조건은 기존과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없음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신뢰성 시험 500회 진행 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레이저 비아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비아 접속 불량률이 0.12%에서 0.05%로 감소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가공 시간은 패널당 4% 증가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다음 분기에 양산 설비 2대로 확대 적용 검토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전해 도금: 두께 균일도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패널 가장자리에 전류가 집중되어 도금 두께 편차가 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차폐판 개구 크기를 패널 위치별로 다르게 설계하여 가장자리 전류 밀도를 낮춘다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개구율은 중심부 100%, 가장자리 70%로 두고 그 사이는 선형으로 변화시킨다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펄스 역전류 도금을 적용하여 정방향 20 ms, 역방향 1 ms를 반복하고 역방향 전류 밀도는 정방향의 3배로 설정한다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패널 양면 노즐의 분사 방향을 30초마다 반대로 전환하여 비아 내부의 농도 차이를 줄인다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설비 개조 일정은 11월 정기 보수 기간에 맞춤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도금 조건과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500"/>
                <a:gridCol w="6655003"/>
                <a:gridCol w="2440167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두께 편차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직류 도금, 균일 차폐판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제안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위치별 개구율 차폐판과 펄스 역전류 도금을 조합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추가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양극 분할 전류 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평가 예정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유리 코어 기판: 관통 구멍 형성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유리 코어는 평탄도가 좋지만 가공 중 균열이 쉽게 발생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레이저로 유리 내부를 개질한 뒤 습식 에칭으로 관통 구멍을 형성한다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개질 깊이는 유리 두께의 110%로 설정하여 양면에서 진행한 에칭이 만나도록 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구멍 지름이 목표보다 작으면 에칭 시간을 늘려 보정하고 에칭액 농도는 고정한다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유리 가장자리는 절단 후 레이저 면취로 미세 균열을 제거하고 수지 테두리를 덧씌워 충격을 흡수하는 구조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시험 라인 구축은 12월 완료 목표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유리 코어 공정 흐름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레이저 개질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습식 에칭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시드층 형성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구리 충전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평탄화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구리 충전 단계에서는 구멍 중앙부터 채워지도록 억제제 농도를 높이고, 충전 중 전류 밀도를 3단계로 올려 내부 공극을 막는다.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현재 수준과 남은 과제: 유리 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관통 구멍 지름 편차 3 μm 이내 달성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열충격 시험 중 균열 발생률은 추가 개선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협력 기관과 공동 평가를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충전 조건은 업계에서 쓰는 방식을 참고하여 정함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자동 광학 검사: 가성 불량 저감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가성 불량이 많아 재검 인력 부담이 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1차 규칙 기반 검출 결과를 2차 분류기가 진성과 가성으로 나누고 가성 확률이 0.9 이상이면 재검 대상에서 제외한다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분류기 입력은 불량 후보 주변 64×64 화소 영상과 설계 데이터의 같은 영역 패턴을 함께 쓴다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검사원이 뒤집은 판정은 주 1회 재학습 데이터에 추가한다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제외된 후보 중 5%를 무작위로 뽑아 검사원이 확인하고 놓친 진성 불량이 나오면 확률 기준을 0.95로 올린다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재검 시간 30% 절감이 목표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검사 단계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667"/>
                <a:gridCol w="7320503"/>
                <a:gridCol w="19965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1차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규칙 기반 전수 검출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2차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후보 영상과 설계 패턴을 함께 넣어 진성과 가성으로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표본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제외 후보의 5%를 검사원이 재확인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주간 품질 회의에서 결과 공유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표면처리와 솔더 레지스트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미세 패드에서 도금 두께 부족과 언더컷이 접합 불량의 원인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팔라듐 도금 두께를 도금액 온도와 패드 면적 비율로 예측하고 예측값이 하한에 가까우면 침지 시간을 10초 단위로 늘린다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솔더 레지스트 현상 시 진행 방향 앞쪽 노즐의 분사 압력은 낮게, 뒤쪽 노즐은 높게 설정하여 개구부 언더컷을 줄인다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두 조건 모두 양산 라인 1개에서 검증 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표면처리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미세 패드의 두께 편차가 14%에서 9%로 감소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언더컷 불량은 절반 수준으로 감소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공정 간 보정 기획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앞 공정의 편차가 뒷 공정에서 누적되어 최종 품질에 영향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적층 후 두께 측정값을 다음 공정인 레이저 가공의 초점 위치 보정값으로 전달한다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앞 공정 측정값이 관리 한계의 80%를 넘으면 뒷 공정 조건을 보수적인 설정으로 자동 전환하고 작업자에게 알린다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설비 간 데이터 연결 방식은 설비 제작사와 협의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내년 1분기 시범 적용 목표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품질 및 공정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이슈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외층 도금 설비 1대에서 두께 편차가 재발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원자재 입고 검사 대기 시간이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설비 가동 전 더미 패널 2장으로 전류 분포를 측정하고 편차가 기준을 넘으면 양극 위치를 자동으로 조정한다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입고 검사 인력을 한시적으로 1명 추가 배치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지식재산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발명신고 5건 접수, 3건은 출원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출원 검토 회의는 11월 3주차에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유리 코어 관련 선행 기술 조사를 외부 기관에 의뢰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공정 조건 공개 범위는 영업 비밀 관리 기준에 따름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리스크 및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3327501"/>
                <a:gridCol w="4436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대응 계획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원자재 가격 상승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원가 부담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장기 공급 계약 검토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시험 라인 설비 납기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일정 1개월 지연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대체 설비 임차 검토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고객 인증 일정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양산 시점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분기별 일정 재협의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예산 및 투자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예산 집행률 71%, 설비 투자 비중이 가장 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시험 라인 구축 비용은 2개 분기에 나누어 집행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4분기 평가 비용 일부는 내년으로 이월 예정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4분기에 대면적 시제품 3차 평가를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유리 코어 시험 라인을 12월까지 구축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검사 자동화 대상 라인을 내년 2개로 확대 검토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참고: 평가 현장 사진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1672" cy="118872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822960"/>
          </a:xfrm>
        </p:spPr>
        <p:txBody>
          <a:bodyPr/>
          <a:lstStyle/>
          <a:p>
            <a:r>
              <a:rPr sz="2000" b="0"/>
              <a:t>질의 응답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백업: 보류 과제 메모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드릴 가공 깊이는 층간 정합 측정값으로 패널마다 보정하고 보정량이 30 μm를 넘으면 가공을 멈춘다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해당 항목은 내년 과제 후보로 보류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